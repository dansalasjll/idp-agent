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investment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Annual
investment</c:v>
                  </c:pt>
                  <c:pt idx="1">
                    <c:v>Annual
return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0.11</c:v>
                </c:pt>
                <c:pt idx="1">
                  <c:v>2.2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3A42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3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pain in money, not technology. The penalty number is the hook — late fees, lapsed insurance, owed service credits. Stress it's a throughput problem so nobody hears it as criticism of the analysts.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objection-killer slide. 'Legal won't trust an AI summary' — correct, so we don't ask them to. We point them to the clause. Land the 'seconds, not hours'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value drivers, but be honest the penalty number dwarfs the labor number. Compute cost is a rounding error — say it out loud: 'less than five dollars a contract.'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chart do the talking — the return bar visually dwarfs the investment bar. Don't over-explain. The ~20x and the 3-week payback are the two numbers to leave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Execs respect transparent assumptions more than a single confident number. Invite them to challenge the inputs — show the conservative column still wins. Have JLL's real MSA count and penalty history ready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pre-empts the data-security objection before a judge raises it. The key line: client MSAs never leave JLL's governed envelope. Stress that governance was designed in from day one — sandbox Claude for the build, sanctioned Falcon for real data, and code that hard-blocks real data from the sandbox. It directly de-risks the pilot ask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asks — concrete, low-commitment, each one de-risks the next step. End on the ratio line; that's the sentence you want them repeating after you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JLL HACKATHON 2026  ·  CRE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paying for what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didn't read.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Document Processing Agent — the ROI case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784080" y="10058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B8860B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Salas Castro  ·  Lead Data Scientist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 leak out of MSAs every year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JLL's CRE teams review Master Service Agreements by hand. The math doesn't work.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514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 a single contract — beyond what anyone can hold in memory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2514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09160" y="3520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binding obligations buried across body, schedules &amp; exhibits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0" y="210312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0" y="2514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Millions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503920" y="3520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out yearly in penalties from obligations that got overlooked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buNone/>
            </a:pPr>
            <a:r>
              <a:rPr lang="en-US" sz="160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mismatch between document volume and manual processing capacity. It is not an analyst-skill problem — it is a throughput problem.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every clause. Miss nothing. In minutes.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MSA → get a categorized, source-linked compliance checklist.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254203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1344168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36576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structure + page refs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15184" y="29260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07792" y="22860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54203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99232" y="32461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17520" y="36576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clause → obligation schema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82896" y="29260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75504" y="22860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9592" y="254203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5879592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66944" y="32461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85232" y="36576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&amp; prioritize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50608" y="29260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443216" y="22860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47304" y="254203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8147304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34656" y="32461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52944" y="36576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Categorized, source-linked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418320" y="29260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710928" y="2286000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15016" y="2542032"/>
            <a:ext cx="585216" cy="585216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10415016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02368" y="32461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820656" y="36576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Smartsheet / Excel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470916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60120" y="4709160"/>
            <a:ext cx="10268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trusted:  </a:t>
            </a:r>
            <a:pPr indent="0" marL="0">
              <a:buNone/>
            </a:pPr>
            <a:r>
              <a:rPr lang="en-US" sz="1600" dirty="0">
                <a:solidFill>
                  <a:srgbClr val="2A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links to its exact clause — section, page, and verbatim text. The agent triages ~95% of the reading and points a human straight to the source. Verification takes seconds, not hours.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value comes from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1664208"/>
            <a:ext cx="640080" cy="64008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664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6642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 avoidance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$2.0M</a:t>
            </a:r>
            <a:pPr indent="0" marL="0">
              <a:buNone/>
            </a:pPr>
            <a:r>
              <a:rPr lang="en-US" sz="1800" dirty="0">
                <a:solidFill>
                  <a:srgbClr val="5A6273"/>
                </a:solidFill>
              </a:rPr>
              <a:t>  / year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catch and act on the obligations that are slipping through today (50% of a $4.0M exposure).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664208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664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16642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time reclaimed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 hrs</a:t>
            </a:r>
            <a:pPr indent="0" marL="0">
              <a:buNone/>
            </a:pPr>
            <a:r>
              <a:rPr lang="en-US" sz="1800" dirty="0">
                <a:solidFill>
                  <a:srgbClr val="5A6273"/>
                </a:solidFill>
              </a:rPr>
              <a:t>  / year  ≈ $0.2M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53796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hours saved per MSA × 120 major contracts — review shifts from reading to verification.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10908792" cy="1783080"/>
          </a:xfrm>
          <a:prstGeom prst="roundRect">
            <a:avLst>
              <a:gd name="adj" fmla="val 4103"/>
            </a:avLst>
          </a:prstGeom>
          <a:solidFill>
            <a:srgbClr val="E8EE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a near-zero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466344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$5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0120" y="5212080"/>
            <a:ext cx="3240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per contract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3024" y="466344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~$0.11M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383024" y="5212080"/>
            <a:ext cx="3240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 cost (infra + light maintenance)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05928" y="466344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~$2.1M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805928" y="5212080"/>
            <a:ext cx="3240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benefit (base case)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dollars of compute against millions in exposure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920240"/>
            <a:ext cx="3749040" cy="1737360"/>
          </a:xfrm>
          <a:prstGeom prst="roundRect">
            <a:avLst>
              <a:gd name="adj" fmla="val 4211"/>
            </a:avLst>
          </a:prstGeom>
          <a:solidFill>
            <a:srgbClr val="16223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95528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55280" y="2468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weeks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955280" y="3246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productionization (base case)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0" y="384048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≈ 20×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55280" y="45720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$2.2M</a:t>
            </a:r>
            <a:pPr indent="0" marL="0">
              <a:buNone/>
            </a:pPr>
            <a:r>
              <a:rPr lang="en-US" sz="150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annual benefit on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~$0.11M</a:t>
            </a:r>
            <a:pPr indent="0" marL="0">
              <a:buNone/>
            </a:pPr>
            <a:r>
              <a:rPr lang="en-US" sz="150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annual cost. That ratio is the business case.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assumptions — swap in JLL actuals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93392"/>
                <a:gridCol w="1737360"/>
                <a:gridCol w="1737360"/>
                <a:gridCol w="17830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Penalty avoided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saved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benefit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wks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wks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$0.11M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C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32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wks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43484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60120" y="4553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to replace with real data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6012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penalty exposure</a:t>
            </a:r>
            <a:pPr indent="0" marL="0">
              <a:buNone/>
            </a:pPr>
            <a:r>
              <a:rPr lang="en-US" sz="13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(base $4.0M, tool prevents 50%)   ·   </a:t>
            </a:r>
            <a:pPr indent="0" marL="0">
              <a:buNone/>
            </a:pPr>
            <a:r>
              <a:rPr lang="en-US" sz="1350" b="1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MSAs processed / year</a:t>
            </a:r>
            <a:pPr indent="0" marL="0">
              <a:buNone/>
            </a:pPr>
            <a:r>
              <a:rPr lang="en-US" sz="13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(120)   ·   </a:t>
            </a:r>
            <a:pPr indent="0" marL="0">
              <a:buNone/>
            </a:pPr>
            <a:r>
              <a:rPr lang="en-US" sz="1350" b="1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/ MSA</a:t>
            </a:r>
            <a:pPr indent="0" marL="0">
              <a:buNone/>
            </a:pPr>
            <a:r>
              <a:rPr lang="en-US" sz="13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(30)   ·   </a:t>
            </a:r>
            <a:pPr indent="0" marL="0">
              <a:buNone/>
            </a:pPr>
            <a:r>
              <a:rPr lang="en-US" sz="1350" b="1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analyst rate</a:t>
            </a:r>
            <a:pPr indent="0" marL="0">
              <a:buNone/>
            </a:pPr>
            <a:r>
              <a:rPr lang="en-US" sz="13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($55/hr)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for the pitch. Even the conservative case clears ~$1M net benefit with a sub-2-month payback.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data never leaves the governed envelope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within JLL-sanctioned environments — security is a design constraint, not an afterthought.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846320" cy="2240280"/>
          </a:xfrm>
          <a:prstGeom prst="roundRect">
            <a:avLst>
              <a:gd name="adj" fmla="val 326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11680"/>
            <a:ext cx="1068019" cy="29260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11680"/>
            <a:ext cx="10680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3957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(sponsored)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32688" y="2999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validate on synthetic / sample contracts.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34564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endpoint — no real client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02552" y="1783080"/>
            <a:ext cx="4846320" cy="2240280"/>
          </a:xfrm>
          <a:prstGeom prst="roundRect">
            <a:avLst>
              <a:gd name="adj" fmla="val 3265"/>
            </a:avLst>
          </a:prstGeom>
          <a:solidFill>
            <a:srgbClr val="EAF3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95160" y="2011680"/>
            <a:ext cx="1152144" cy="292608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01168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23957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JLL Falcon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995160" y="299923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4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 MSAs — processed inside JLL's governed security &amp; privacy envelope.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25146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440680" y="312724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A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1 adapter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3447288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4535424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08176" y="453542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swappable seam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96112" y="5047488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Parsing, schema, dedup, checklist, UI and export are all endpoint-agnostic.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70832" y="4297680"/>
            <a:ext cx="3447288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6864" y="4535424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4626864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38928" y="453542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guard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626864" y="5047488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refuses to send real client text to any endpoint not cleared for it.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01584" y="4297680"/>
            <a:ext cx="3447288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57616" y="4535424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9" name="Text 27"/>
          <p:cNvSpPr/>
          <p:nvPr/>
        </p:nvSpPr>
        <p:spPr>
          <a:xfrm>
            <a:off x="8357616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869680" y="453542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external clouds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357616" y="5047488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isn't used. OCR runs on Azure Document Intelligence / Falcon multimodal.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that wins the hackathon ships to production — only the model endpoint changes.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on one live account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2C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 over one CRE client's MSA portfolio and measure caught-vs-missed against history.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to penalty data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33558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2C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historical penalty records to replace the illustrative ROI inputs with JLL actuals.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path to integrate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5902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2C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checklist into JLL's contract-management workflow for assignment and reminders.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dollars of compute against millions in avoidable penalties. </a:t>
            </a:r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ratio is the business case.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Agent — ROI Case</dc:title>
  <dc:subject>PptxGenJS Presentation</dc:subject>
  <dc:creator>Daniel Salas Castro</dc:creator>
  <cp:lastModifiedBy>Daniel Salas Castro</cp:lastModifiedBy>
  <cp:revision>1</cp:revision>
  <dcterms:created xsi:type="dcterms:W3CDTF">2026-06-22T03:39:33Z</dcterms:created>
  <dcterms:modified xsi:type="dcterms:W3CDTF">2026-06-22T03:39:33Z</dcterms:modified>
</cp:coreProperties>
</file>